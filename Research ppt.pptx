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6"/>
  </p:notesMasterIdLst>
  <p:handoutMasterIdLst>
    <p:handoutMasterId r:id="rId17"/>
  </p:handoutMasterIdLst>
  <p:sldIdLst>
    <p:sldId id="281" r:id="rId5"/>
    <p:sldId id="257" r:id="rId6"/>
    <p:sldId id="270" r:id="rId7"/>
    <p:sldId id="271" r:id="rId8"/>
    <p:sldId id="272" r:id="rId9"/>
    <p:sldId id="273" r:id="rId10"/>
    <p:sldId id="278" r:id="rId11"/>
    <p:sldId id="276" r:id="rId12"/>
    <p:sldId id="280" r:id="rId13"/>
    <p:sldId id="277" r:id="rId14"/>
    <p:sldId id="268" r:id="rId1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4803"/>
    <a:srgbClr val="814C05"/>
    <a:srgbClr val="CAC0B5"/>
    <a:srgbClr val="8AB2E2"/>
    <a:srgbClr val="2A66AC"/>
    <a:srgbClr val="75A4DD"/>
    <a:srgbClr val="2E6CB8"/>
    <a:srgbClr val="2A65AC"/>
    <a:srgbClr val="255997"/>
    <a:srgbClr val="337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showGuides="1">
      <p:cViewPr varScale="1">
        <p:scale>
          <a:sx n="66" d="100"/>
          <a:sy n="66" d="100"/>
        </p:scale>
        <p:origin x="53" y="312"/>
      </p:cViewPr>
      <p:guideLst>
        <p:guide orient="horz" pos="2160"/>
        <p:guide pos="28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dirty="0">
              <a:latin typeface="Times New Roman" panose="02020503050405090304" pitchFamily="18" charset="0"/>
            </a:endParaRPr>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latin typeface="Times New Roman" panose="02020503050405090304" pitchFamily="18" charset="0"/>
              </a:rPr>
              <a:t>5/8/2026</a:t>
            </a:fld>
            <a:endParaRPr lang="en-US" dirty="0">
              <a:latin typeface="Times New Roman" panose="02020503050405090304" pitchFamily="18" charset="0"/>
            </a:endParaRPr>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dirty="0">
                <a:latin typeface="Times New Roman" panose="02020503050405090304" pitchFamily="18" charset="0"/>
              </a:rPr>
              <a:t>Name of the faculty [Group: G00] [Sem:2nd]</a:t>
            </a:r>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latin typeface="Times New Roman" panose="02020503050405090304" pitchFamily="18" charset="0"/>
              </a:rPr>
              <a:t>‹#›</a:t>
            </a:fld>
            <a:endParaRPr lang="en-US" dirty="0">
              <a:latin typeface="Times New Roman" panose="0202050305040509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atin typeface="Times New Roman" panose="02020503050405090304" pitchFamily="18" charset="0"/>
              </a:defRPr>
            </a:lvl1pPr>
          </a:lstStyle>
          <a:p>
            <a:endParaRPr lang="en-US" dirty="0"/>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atin typeface="Times New Roman" panose="02020503050405090304" pitchFamily="18" charset="0"/>
              </a:defRPr>
            </a:lvl1pPr>
          </a:lstStyle>
          <a:p>
            <a:fld id="{888BC1CF-45D5-4DEE-AAB8-8C5341844FC9}" type="datetimeFigureOut">
              <a:rPr lang="en-US" smtClean="0"/>
              <a:t>5/8/2026</a:t>
            </a:fld>
            <a:endParaRPr lang="en-US" dirty="0"/>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atin typeface="Times New Roman" panose="02020503050405090304" pitchFamily="18" charset="0"/>
              </a:defRPr>
            </a:lvl1pPr>
          </a:lstStyle>
          <a:p>
            <a:r>
              <a:rPr lang="en-US" dirty="0"/>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atin typeface="Times New Roman" panose="02020503050405090304" pitchFamily="18" charset="0"/>
              </a:defRPr>
            </a:lvl1pPr>
          </a:lstStyle>
          <a:p>
            <a:fld id="{C5A7523A-12D4-4E0F-9409-B3F845B48333}" type="slidenum">
              <a:rPr lang="en-US" smtClean="0"/>
              <a:t>‹#›</a:t>
            </a:fld>
            <a:endParaRPr lang="en-US" dirty="0"/>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Times New Roman" panose="02020503050405090304" pitchFamily="18" charset="0"/>
        <a:ea typeface="+mn-ea"/>
        <a:cs typeface="+mn-cs"/>
      </a:defRPr>
    </a:lvl1pPr>
    <a:lvl2pPr marL="457200" algn="l" defTabSz="914400" rtl="0" eaLnBrk="1" latinLnBrk="0" hangingPunct="1">
      <a:defRPr sz="1200" kern="1200">
        <a:solidFill>
          <a:schemeClr val="tx1"/>
        </a:solidFill>
        <a:latin typeface="Times New Roman" panose="02020503050405090304" pitchFamily="18" charset="0"/>
        <a:ea typeface="+mn-ea"/>
        <a:cs typeface="+mn-cs"/>
      </a:defRPr>
    </a:lvl2pPr>
    <a:lvl3pPr marL="914400" algn="l" defTabSz="914400" rtl="0" eaLnBrk="1" latinLnBrk="0" hangingPunct="1">
      <a:defRPr sz="1200" kern="1200">
        <a:solidFill>
          <a:schemeClr val="tx1"/>
        </a:solidFill>
        <a:latin typeface="Times New Roman" panose="02020503050405090304" pitchFamily="18" charset="0"/>
        <a:ea typeface="+mn-ea"/>
        <a:cs typeface="+mn-cs"/>
      </a:defRPr>
    </a:lvl3pPr>
    <a:lvl4pPr marL="1371600" algn="l" defTabSz="914400" rtl="0" eaLnBrk="1" latinLnBrk="0" hangingPunct="1">
      <a:defRPr sz="1200" kern="1200">
        <a:solidFill>
          <a:schemeClr val="tx1"/>
        </a:solidFill>
        <a:latin typeface="Times New Roman" panose="02020503050405090304" pitchFamily="18" charset="0"/>
        <a:ea typeface="+mn-ea"/>
        <a:cs typeface="+mn-cs"/>
      </a:defRPr>
    </a:lvl4pPr>
    <a:lvl5pPr marL="1828800" algn="l" defTabSz="914400" rtl="0" eaLnBrk="1" latinLnBrk="0" hangingPunct="1">
      <a:defRPr sz="1200" kern="1200">
        <a:solidFill>
          <a:schemeClr val="tx1"/>
        </a:solidFill>
        <a:latin typeface="Times New Roman" panose="0202050305040509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lvl1pPr>
              <a:defRPr>
                <a:latin typeface="Times New Roman" panose="02020503050405090304" pitchFamily="18" charset="0"/>
              </a:defRPr>
            </a:lvl1pPr>
          </a:lstStyle>
          <a:p>
            <a:pPr algn="ctr"/>
            <a:endParaRPr lang="en-GB" sz="3200" b="0" strike="noStrike" spc="-1" dirty="0">
              <a:latin typeface="Arial" panose="020B060402020209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lvl1pPr>
              <a:defRPr>
                <a:latin typeface="Times New Roman" panose="02020503050405090304" pitchFamily="18" charset="0"/>
              </a:defRPr>
            </a:lvl1pPr>
          </a:lstStyle>
          <a:p>
            <a:pPr algn="ctr"/>
            <a:endParaRPr lang="en-GB" sz="3200" b="0" strike="noStrike" spc="-1" dirty="0">
              <a:latin typeface="Arial" panose="020B060402020209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a:fillRect/>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panose="020B060402020209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90204"/>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2950" lvl="1" indent="-285750">
              <a:lnSpc>
                <a:spcPct val="100000"/>
              </a:lnSpc>
              <a:spcBef>
                <a:spcPts val="560"/>
              </a:spcBef>
              <a:buClr>
                <a:srgbClr val="000000"/>
              </a:buClr>
              <a:buFont typeface="Arial" panose="020B0604020202090204"/>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7965">
              <a:lnSpc>
                <a:spcPct val="100000"/>
              </a:lnSpc>
              <a:spcBef>
                <a:spcPts val="480"/>
              </a:spcBef>
              <a:buClr>
                <a:srgbClr val="000000"/>
              </a:buClr>
              <a:buFont typeface="Arial" panose="020B0604020202090204"/>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7965">
              <a:lnSpc>
                <a:spcPct val="100000"/>
              </a:lnSpc>
              <a:spcBef>
                <a:spcPts val="400"/>
              </a:spcBef>
              <a:buClr>
                <a:srgbClr val="000000"/>
              </a:buClr>
              <a:buFont typeface="Arial" panose="020B0604020202090204"/>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7965">
              <a:lnSpc>
                <a:spcPct val="100000"/>
              </a:lnSpc>
              <a:spcBef>
                <a:spcPts val="400"/>
              </a:spcBef>
              <a:buClr>
                <a:srgbClr val="000000"/>
              </a:buClr>
              <a:buFont typeface="Arial" panose="020B0604020202090204"/>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50305040509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503050405090304"/>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lvl1pPr>
              <a:defRPr>
                <a:latin typeface="Times New Roman" panose="02020503050405090304" pitchFamily="18" charset="0"/>
              </a:defRPr>
            </a:lvl1pPr>
          </a:lstStyle>
          <a:p>
            <a:pPr algn="r"/>
            <a:fld id="{1CFDC92E-FF5D-4613-8499-B15BC16E50D9}" type="slidenum">
              <a:rPr lang="en-US" sz="1200" spc="-1" smtClean="0">
                <a:solidFill>
                  <a:srgbClr val="898989"/>
                </a:solidFill>
                <a:ea typeface="MS PGothic"/>
              </a:rPr>
              <a:t>‹#›</a:t>
            </a:fld>
            <a:endParaRPr lang="en-GB" sz="1200" spc="-1" dirty="0">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Times New Roman" panose="0202050305040509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Times New Roman" panose="02020503050405090304" pitchFamily="18"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Times New Roman" panose="02020503050405090304" pitchFamily="18"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Times New Roman" panose="02020503050405090304" pitchFamily="18"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3C316D-3D1E-E454-3FF5-5F3D7EEED11A}"/>
              </a:ext>
            </a:extLst>
          </p:cNvPr>
          <p:cNvSpPr txBox="1"/>
          <p:nvPr/>
        </p:nvSpPr>
        <p:spPr>
          <a:xfrm>
            <a:off x="0" y="1078078"/>
            <a:ext cx="9291484" cy="5488682"/>
          </a:xfrm>
          <a:prstGeom prst="rect">
            <a:avLst/>
          </a:prstGeom>
          <a:noFill/>
        </p:spPr>
        <p:txBody>
          <a:bodyPr wrap="square">
            <a:sp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18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US" sz="2800" dirty="0"/>
              <a:t>An Efficient CNN-Based Framework for Automated Blood Cell Classification in Hematological Disease Diagnosis</a:t>
            </a:r>
          </a:p>
          <a:p>
            <a:pPr algn="ctr">
              <a:spcBef>
                <a:spcPts val="400"/>
              </a:spcBef>
            </a:pPr>
            <a:endParaRPr lang="en-IN" sz="3600" dirty="0"/>
          </a:p>
          <a:p>
            <a:pPr algn="ctr">
              <a:lnSpc>
                <a:spcPct val="100000"/>
              </a:lnSpc>
              <a:spcBef>
                <a:spcPts val="400"/>
              </a:spcBef>
            </a:pP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Name of Student</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1</a:t>
            </a: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Ravinder Singh(ID:22109902144)</a:t>
            </a:r>
            <a:br>
              <a:rPr lang="en-US" spc="-1" dirty="0">
                <a:solidFill>
                  <a:srgbClr val="000000"/>
                </a:solidFill>
                <a:latin typeface="Times New Roman" panose="02020503050405090304" pitchFamily="18" charset="0"/>
                <a:ea typeface="MS PGothic"/>
                <a:cs typeface="Times New Roman" panose="02020503050405090304" pitchFamily="18" charset="0"/>
              </a:rPr>
            </a:br>
            <a:r>
              <a:rPr lang="en-US" spc="-1" dirty="0">
                <a:solidFill>
                  <a:srgbClr val="000000"/>
                </a:solidFill>
                <a:latin typeface="Times New Roman" panose="02020503050405090304" pitchFamily="18" charset="0"/>
                <a:ea typeface="MS PGothic"/>
                <a:cs typeface="Times New Roman" panose="02020503050405090304" pitchFamily="18" charset="0"/>
              </a:rPr>
              <a:t>     </a:t>
            </a: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Name of Student</a:t>
            </a:r>
            <a:r>
              <a:rPr 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2</a:t>
            </a: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 Rishav Nath Kaura</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(ID:2210992160)</a:t>
            </a:r>
          </a:p>
          <a:p>
            <a:pPr algn="ctr">
              <a:lnSpc>
                <a:spcPct val="100000"/>
              </a:lnSpc>
              <a:spcBef>
                <a:spcPts val="400"/>
              </a:spcBef>
            </a:pP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Name of Student3 : Rajat Chauhan</a:t>
            </a:r>
            <a:r>
              <a:rPr lang="en-US" alt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(ID: 2210992131)</a:t>
            </a:r>
          </a:p>
          <a:p>
            <a:pPr algn="ctr">
              <a:lnSpc>
                <a:spcPct val="100000"/>
              </a:lnSpc>
              <a:spcBef>
                <a:spcPts val="400"/>
              </a:spcBef>
            </a:pPr>
            <a:endParaRPr lang="en-US"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1800" spc="-1" dirty="0">
                <a:solidFill>
                  <a:srgbClr val="000000"/>
                </a:solidFill>
                <a:latin typeface="Times New Roman" panose="02020603050405020304" pitchFamily="18" charset="0"/>
                <a:ea typeface="MS PGothic"/>
                <a:cs typeface="Times New Roman" panose="02020603050405020304" pitchFamily="18" charset="0"/>
              </a:rPr>
              <a:t>Supervised By :</a:t>
            </a:r>
          </a:p>
          <a:p>
            <a:pPr algn="ctr">
              <a:spcBef>
                <a:spcPts val="400"/>
              </a:spcBef>
            </a:pPr>
            <a:r>
              <a:rPr lang="en-US" alt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Dr. Preeti Saini</a:t>
            </a:r>
            <a:endParaRPr lang="en-US" sz="18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18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Department of </a:t>
            </a:r>
            <a:r>
              <a:rPr lang="en-US" sz="20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0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00000"/>
              </a:lnSpc>
              <a:spcBef>
                <a:spcPts val="400"/>
              </a:spcBef>
            </a:pPr>
            <a:endParaRPr lang="en-US" sz="2000" b="0" strike="noStrike" spc="-1" dirty="0">
              <a:latin typeface="Times New Roman" panose="02020603050405020304" pitchFamily="18" charset="0"/>
              <a:ea typeface="MS PGothic"/>
              <a:cs typeface="Times New Roman" panose="02020603050405020304" pitchFamily="18" charset="0"/>
            </a:endParaRPr>
          </a:p>
        </p:txBody>
      </p:sp>
    </p:spTree>
    <p:extLst>
      <p:ext uri="{BB962C8B-B14F-4D97-AF65-F5344CB8AC3E}">
        <p14:creationId xmlns:p14="http://schemas.microsoft.com/office/powerpoint/2010/main" val="3211783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6553080" cy="837720"/>
          </a:xfrm>
          <a:prstGeom prst="rect">
            <a:avLst/>
          </a:prstGeom>
          <a:noFill/>
          <a:ln w="9360">
            <a:noFill/>
          </a:ln>
        </p:spPr>
        <p:txBody>
          <a:bodyPr anchor="ctr">
            <a:noAutofit/>
          </a:bodyPr>
          <a:lstStyle/>
          <a:p>
            <a:pPr algn="ctr">
              <a:lnSpc>
                <a:spcPct val="100000"/>
              </a:lnSpc>
            </a:pPr>
            <a:r>
              <a:rPr lang="en-US" sz="3200" b="1" strike="noStrike" spc="-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rPr>
              <a:t>INTRODUCTION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Times New Roman" panose="02020503050405090304" pitchFamily="18" charset="0"/>
                <a:ea typeface="MS PGothic"/>
              </a:rPr>
              <a:t>2</a:t>
            </a:fld>
            <a:endParaRPr lang="en-GB" sz="1200" b="0" strike="noStrike" spc="-1" dirty="0">
              <a:latin typeface="Times New Roman" panose="02020503050405090304"/>
            </a:endParaRPr>
          </a:p>
        </p:txBody>
      </p:sp>
      <p:sp>
        <p:nvSpPr>
          <p:cNvPr id="5" name="TextShape 2"/>
          <p:cNvSpPr txBox="1"/>
          <p:nvPr/>
        </p:nvSpPr>
        <p:spPr>
          <a:xfrm>
            <a:off x="200342" y="1028227"/>
            <a:ext cx="8743315" cy="5137785"/>
          </a:xfrm>
          <a:prstGeom prst="rect">
            <a:avLst/>
          </a:prstGeom>
          <a:noFill/>
          <a:ln w="9360">
            <a:noFill/>
          </a:ln>
        </p:spPr>
        <p:txBody>
          <a:bodyPr>
            <a:noAutofit/>
            <a:scene3d>
              <a:camera prst="orthographicFront"/>
              <a:lightRig rig="threePt" dir="t"/>
            </a:scene3d>
          </a:bodyPr>
          <a:lstStyle/>
          <a:p>
            <a:r>
              <a:rPr lang="en-US" sz="2000" dirty="0">
                <a:latin typeface="Times New Roman" panose="02020603050405020304" pitchFamily="18" charset="0"/>
                <a:cs typeface="Times New Roman" panose="02020603050405020304" pitchFamily="18" charset="0"/>
              </a:rPr>
              <a:t>This project presents an efficient CNN-based framework for automated blood cell classification in hematological disease diagnosis using deep learning techniques. Traditional microscopic analysis of blood smear images is often manual, time-consuming, subjective, and prone to human error, making accurate diagnosis challenging.</a:t>
            </a:r>
          </a:p>
          <a:p>
            <a:r>
              <a:rPr lang="en-US" sz="2000" dirty="0">
                <a:latin typeface="Times New Roman" panose="02020603050405020304" pitchFamily="18" charset="0"/>
                <a:cs typeface="Times New Roman" panose="02020603050405020304" pitchFamily="18" charset="0"/>
              </a:rPr>
              <a:t>To overcome these limitations, the proposed system uses a Convolutional Neural Network (CNN) model to automatically classify blood cell images into four categories: Benign, Malignant Pre-B, Malignant Pro-B, and Malignant Early Pre-B. The framework incorporates image preprocessing, feature extraction, and deep learning-based classification to accurately identify malignant blood cell patterns.</a:t>
            </a:r>
          </a:p>
          <a:p>
            <a:r>
              <a:rPr lang="en-US" sz="2000" dirty="0">
                <a:latin typeface="Times New Roman" panose="02020603050405020304" pitchFamily="18" charset="0"/>
                <a:cs typeface="Times New Roman" panose="02020603050405020304" pitchFamily="18" charset="0"/>
              </a:rPr>
              <a:t>The model achieved high classification accuracy along with strong precision, recall, and F1-score performance across all classes. In addition, training-validation analysis and confusion matrix evaluation demonstrate the reliability and generalization capability of the proposed CNN model. By enabling rapid, accurate, and automated blood cell analysis, the framework can assist clinicians in improving hematological disease diagnosis and reducing dependency on manual microscopic examination.</a:t>
            </a:r>
          </a:p>
          <a:p>
            <a:pPr algn="l">
              <a:lnSpc>
                <a:spcPct val="100000"/>
              </a:lnSpc>
              <a:spcBef>
                <a:spcPts val="400"/>
              </a:spcBef>
            </a:pPr>
            <a:endParaRPr lang="en-US" altLang="en-US" sz="2000" spc="-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46273" cy="914040"/>
          </a:xfrm>
        </p:spPr>
        <p:txBody>
          <a:bodyPr/>
          <a:lstStyle/>
          <a:p>
            <a:pPr algn="ctr"/>
            <a:r>
              <a:rPr lang="en-US" altLang="en-IN" sz="3200" b="1" dirty="0">
                <a:ea typeface="Calibri" panose="020F0502020204030204" pitchFamily="34" charset="0"/>
                <a:cs typeface="Times New Roman" panose="02020503050405090304" pitchFamily="18" charset="0"/>
              </a:rPr>
              <a:t>OBJECTIVE</a:t>
            </a:r>
          </a:p>
        </p:txBody>
      </p:sp>
      <p:sp>
        <p:nvSpPr>
          <p:cNvPr id="8" name="Text Box 7"/>
          <p:cNvSpPr txBox="1"/>
          <p:nvPr/>
        </p:nvSpPr>
        <p:spPr>
          <a:xfrm>
            <a:off x="208344" y="1033462"/>
            <a:ext cx="8715311" cy="5656705"/>
          </a:xfrm>
          <a:prstGeom prst="rect">
            <a:avLst/>
          </a:prstGeom>
          <a:noFill/>
        </p:spPr>
        <p:txBody>
          <a:bodyPr wrap="square" rtlCol="0">
            <a:noAutofit/>
          </a:bodyPr>
          <a:lstStyle/>
          <a:p>
            <a:r>
              <a:rPr lang="en-US" sz="2000" dirty="0">
                <a:latin typeface="Times New Roman" panose="02020603050405020304" pitchFamily="18" charset="0"/>
                <a:cs typeface="Times New Roman" panose="02020603050405020304" pitchFamily="18" charset="0"/>
              </a:rPr>
              <a:t>The objective of this project is to design and develop an efficient CNN-based framework for automated blood cell classification in hematological disease diagnosis using deep learning techniques. The system aims to accurately classify microscopic blood cell images into four categories: Benign, Malignant Pre-B, Malignant Pro-B, and Malignant Early Pre-B.</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proposed framework focuses on automatically extracting important morphological features from blood cell images through convolutional neural networks (CNNs) to improve classification accuracy and reduce dependency on manual microscopic analysis. It also aims to enhance the speed, consistency, and reliability of blood cancer diagnosis by minimizing human error and subjective interpretation.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Ultimately, the goal is to support clinicians and healthcare professionals with a fast, accurate, and intelligent diagnostic support system for hematological disease detection.</a:t>
            </a:r>
          </a:p>
          <a:p>
            <a:pPr algn="l"/>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452755" cy="914040"/>
          </a:xfrm>
        </p:spPr>
        <p:txBody>
          <a:bodyPr/>
          <a:lstStyle/>
          <a:p>
            <a:pPr algn="ctr"/>
            <a:r>
              <a:rPr lang="en-US" altLang="en-IN" sz="3200" b="1" dirty="0">
                <a:ea typeface="Calibri" panose="020F0502020204030204" pitchFamily="34" charset="0"/>
                <a:cs typeface="Times New Roman" panose="02020503050405090304" pitchFamily="18" charset="0"/>
              </a:rPr>
              <a:t>PROBLEM STATEMENT</a:t>
            </a:r>
          </a:p>
        </p:txBody>
      </p:sp>
      <p:sp>
        <p:nvSpPr>
          <p:cNvPr id="3" name="Text Box 2"/>
          <p:cNvSpPr txBox="1"/>
          <p:nvPr/>
        </p:nvSpPr>
        <p:spPr>
          <a:xfrm>
            <a:off x="105812" y="1306911"/>
            <a:ext cx="8759825" cy="4775835"/>
          </a:xfrm>
          <a:prstGeom prst="rect">
            <a:avLst/>
          </a:prstGeom>
          <a:noFill/>
        </p:spPr>
        <p:txBody>
          <a:bodyPr wrap="square" rtlCol="0">
            <a:noAutofit/>
          </a:bodyPr>
          <a:lstStyle/>
          <a:p>
            <a:r>
              <a:rPr lang="en-US" sz="2000" dirty="0">
                <a:latin typeface="Times New Roman" panose="02020603050405020304" pitchFamily="18" charset="0"/>
                <a:cs typeface="Times New Roman" panose="02020603050405020304" pitchFamily="18" charset="0"/>
              </a:rPr>
              <a:t>Traditional blood cell classification and hematological disease diagnosis mainly depend on manual microscopic examination performed by medical experts. This process is time-consuming, labor-intensive, and prone to human error, especially when analyzing large numbers of blood smear images. In many cases, the visual differences between benign and malignant blood cells are very subtle, making accurate diagnosis difficult and sometimes inconsistent.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Additionally, variations in cell shape, staining, illumination, and image quality further increase the complexity of blood cell analysis. Existing manual methods often fail to provide fast, reliable, and scalable diagnostic support for early disease detection such as leukemia. Therefore, there is a strong need for an intelligent and automated deep learning-based system that can accurately classify blood cell images, reduce diagnostic workload, and improve the efficiency and reliability of hematological disease diagnosis.</a:t>
            </a:r>
          </a:p>
          <a:p>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515100" cy="914040"/>
          </a:xfrm>
        </p:spPr>
        <p:txBody>
          <a:bodyPr/>
          <a:lstStyle/>
          <a:p>
            <a:pPr algn="ctr"/>
            <a:r>
              <a:rPr lang="en-US" altLang="en-US" sz="3200" b="1" dirty="0">
                <a:ea typeface="Calibri" panose="020F0502020204030204" pitchFamily="34" charset="0"/>
                <a:cs typeface="Times New Roman" panose="02020503050405090304" pitchFamily="18" charset="0"/>
              </a:rPr>
              <a:t>METHODOLOGY</a:t>
            </a:r>
          </a:p>
        </p:txBody>
      </p:sp>
      <p:sp>
        <p:nvSpPr>
          <p:cNvPr id="3" name="Text Box 2"/>
          <p:cNvSpPr txBox="1"/>
          <p:nvPr/>
        </p:nvSpPr>
        <p:spPr>
          <a:xfrm>
            <a:off x="136525" y="1259840"/>
            <a:ext cx="8877300" cy="5364480"/>
          </a:xfrm>
          <a:prstGeom prst="rect">
            <a:avLst/>
          </a:prstGeom>
          <a:noFill/>
        </p:spPr>
        <p:txBody>
          <a:bodyPr wrap="square" rtlCol="0">
            <a:noAutofit/>
          </a:bodyPr>
          <a:lstStyle/>
          <a:p>
            <a:r>
              <a:rPr lang="en-US" altLang="en-US" sz="2000" dirty="0">
                <a:latin typeface="Times New Roman" panose="02020503050405090304" pitchFamily="18" charset="0"/>
                <a:cs typeface="Times New Roman" panose="02020503050405090304" pitchFamily="18" charset="0"/>
              </a:rPr>
              <a:t>The methodology of this project follows a CNN-based deep learning approach for automated blood cell classification. Initially, microscopic blood cell images are collected from the Kaggle ALL Challenge Dataset (ISBI 2019). The images are then preprocessed using resizing and normalization techniques to improve image quality and maintain consistency.</a:t>
            </a:r>
          </a:p>
          <a:p>
            <a:endParaRPr lang="en-US" altLang="en-US" sz="2000" dirty="0">
              <a:latin typeface="Times New Roman" panose="02020503050405090304" pitchFamily="18" charset="0"/>
              <a:cs typeface="Times New Roman" panose="02020503050405090304" pitchFamily="18" charset="0"/>
            </a:endParaRPr>
          </a:p>
          <a:p>
            <a:r>
              <a:rPr lang="en-US" altLang="en-US" sz="2000" dirty="0">
                <a:latin typeface="Times New Roman" panose="02020503050405090304" pitchFamily="18" charset="0"/>
                <a:cs typeface="Times New Roman" panose="02020503050405090304" pitchFamily="18" charset="0"/>
              </a:rPr>
              <a:t>After preprocessing, a Convolutional Neural Network (CNN) model is developed using convolution, max-pooling, batch normalization, dropout, and dense layers to extract important features from blood cell images. The model classifies images into four categories: Benign, Malignant Pre-B, Malignant Pro-B, and Malignant Early Pre-B.</a:t>
            </a:r>
          </a:p>
          <a:p>
            <a:endParaRPr lang="en-US" altLang="en-US" sz="2000" dirty="0">
              <a:latin typeface="Times New Roman" panose="02020503050405090304" pitchFamily="18" charset="0"/>
              <a:cs typeface="Times New Roman" panose="02020503050405090304" pitchFamily="18" charset="0"/>
            </a:endParaRPr>
          </a:p>
          <a:p>
            <a:r>
              <a:rPr lang="en-US" altLang="en-US" sz="2000" dirty="0">
                <a:latin typeface="Times New Roman" panose="02020503050405090304" pitchFamily="18" charset="0"/>
                <a:cs typeface="Times New Roman" panose="02020503050405090304" pitchFamily="18" charset="0"/>
              </a:rPr>
              <a:t>Finally, the trained model is evaluated using accuracy, precision, recall, F1-score, and confusion matrix analysis to measure the performance and reliability of the proposed framework.</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73536" cy="914040"/>
          </a:xfrm>
        </p:spPr>
        <p:txBody>
          <a:bodyPr/>
          <a:lstStyle/>
          <a:p>
            <a:pPr algn="ctr"/>
            <a:r>
              <a:rPr lang="en-IN" sz="3200" b="1" dirty="0">
                <a:ea typeface="Calibri" panose="020F0502020204030204" pitchFamily="34" charset="0"/>
                <a:cs typeface="Times New Roman" panose="02020503050405090304" pitchFamily="18" charset="0"/>
              </a:rPr>
              <a:t>     </a:t>
            </a:r>
            <a:r>
              <a:rPr lang="en-US" altLang="en-IN" sz="3200" b="1" dirty="0">
                <a:ea typeface="Calibri" panose="020F0502020204030204" pitchFamily="34" charset="0"/>
                <a:cs typeface="Times New Roman" panose="02020503050405090304" pitchFamily="18" charset="0"/>
              </a:rPr>
              <a:t>FEATURES </a:t>
            </a:r>
          </a:p>
        </p:txBody>
      </p:sp>
      <p:sp>
        <p:nvSpPr>
          <p:cNvPr id="5" name="Text Box 4"/>
          <p:cNvSpPr txBox="1"/>
          <p:nvPr/>
        </p:nvSpPr>
        <p:spPr>
          <a:xfrm>
            <a:off x="81915" y="913765"/>
            <a:ext cx="8799195" cy="5727065"/>
          </a:xfrm>
          <a:prstGeom prst="rect">
            <a:avLst/>
          </a:prstGeom>
          <a:noFill/>
        </p:spPr>
        <p:txBody>
          <a:bodyPr wrap="square" rtlCol="0">
            <a:noAutofit/>
          </a:bodyPr>
          <a:lstStyle/>
          <a:p>
            <a:r>
              <a:rPr lang="en-IN" sz="2000" b="1" dirty="0">
                <a:latin typeface="Times New Roman" panose="02020603050405020304" pitchFamily="18" charset="0"/>
                <a:cs typeface="Times New Roman" panose="02020603050405020304" pitchFamily="18" charset="0"/>
              </a:rPr>
              <a:t>1. CNN-Based Blood Cell Classification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Uses a Convolutional Neural Network (CNN) to accurately classify blood cell images. </a:t>
            </a:r>
          </a:p>
          <a:p>
            <a:r>
              <a:rPr lang="en-IN" sz="2000" b="1" dirty="0">
                <a:latin typeface="Times New Roman" panose="02020603050405020304" pitchFamily="18" charset="0"/>
                <a:cs typeface="Times New Roman" panose="02020603050405020304" pitchFamily="18" charset="0"/>
              </a:rPr>
              <a:t>2. Automated Disease Detection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Automatically identifies benign and malignant blood cell patterns for faster diagnosis. </a:t>
            </a:r>
          </a:p>
          <a:p>
            <a:r>
              <a:rPr lang="en-IN" sz="2000" b="1" dirty="0">
                <a:latin typeface="Times New Roman" panose="02020603050405020304" pitchFamily="18" charset="0"/>
                <a:cs typeface="Times New Roman" panose="02020603050405020304" pitchFamily="18" charset="0"/>
              </a:rPr>
              <a:t>3. Four-Class Classification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Classifies blood cells into Benign, Malignant Pre-B, Malignant Pro-B, and Malignant Early Pre-B categories. </a:t>
            </a:r>
          </a:p>
          <a:p>
            <a:r>
              <a:rPr lang="en-IN" sz="2000" b="1" dirty="0">
                <a:latin typeface="Times New Roman" panose="02020603050405020304" pitchFamily="18" charset="0"/>
                <a:cs typeface="Times New Roman" panose="02020603050405020304" pitchFamily="18" charset="0"/>
              </a:rPr>
              <a:t>4. Image Preprocessing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Applies resizing and normalization techniques to improve image quality and consistency. </a:t>
            </a:r>
          </a:p>
          <a:p>
            <a:r>
              <a:rPr lang="en-IN" sz="2000" b="1" dirty="0">
                <a:latin typeface="Times New Roman" panose="02020603050405020304" pitchFamily="18" charset="0"/>
                <a:cs typeface="Times New Roman" panose="02020603050405020304" pitchFamily="18" charset="0"/>
              </a:rPr>
              <a:t>5. High Classification Accuracy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Achieves high accuracy, precision, recall, and F1-score for reliable performance. </a:t>
            </a:r>
          </a:p>
          <a:p>
            <a:r>
              <a:rPr lang="en-IN" sz="2000" b="1" dirty="0">
                <a:latin typeface="Times New Roman" panose="02020603050405020304" pitchFamily="18" charset="0"/>
                <a:cs typeface="Times New Roman" panose="02020603050405020304" pitchFamily="18" charset="0"/>
              </a:rPr>
              <a:t>6. Clinical Decision Support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Assists healthcare professionals in accurate and efficient </a:t>
            </a:r>
            <a:r>
              <a:rPr lang="en-IN" sz="2000" dirty="0" err="1">
                <a:latin typeface="Times New Roman" panose="02020603050405020304" pitchFamily="18" charset="0"/>
                <a:cs typeface="Times New Roman" panose="02020603050405020304" pitchFamily="18" charset="0"/>
              </a:rPr>
              <a:t>hematological</a:t>
            </a:r>
            <a:r>
              <a:rPr lang="en-IN" sz="2000" dirty="0">
                <a:latin typeface="Times New Roman" panose="02020603050405020304" pitchFamily="18" charset="0"/>
                <a:cs typeface="Times New Roman" panose="02020603050405020304" pitchFamily="18" charset="0"/>
              </a:rPr>
              <a:t> disease diagnosis. </a:t>
            </a:r>
          </a:p>
          <a:p>
            <a:pPr indent="0">
              <a:buFont typeface="Arial" panose="020B0604020202090204" pitchFamily="34" charset="0"/>
              <a:buNone/>
            </a:pPr>
            <a:endParaRPr lang="en-US" altLang="en-US" sz="2000" dirty="0">
              <a:latin typeface="Times New Roman" panose="02020503050405090304" pitchFamily="18" charset="0"/>
              <a:cs typeface="Times New Roman" panose="0202050305040509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545" y="86360"/>
            <a:ext cx="5486040" cy="914040"/>
          </a:xfrm>
        </p:spPr>
        <p:txBody>
          <a:bodyPr/>
          <a:lstStyle/>
          <a:p>
            <a:r>
              <a:rPr lang="en-US" altLang="en-IN" dirty="0"/>
              <a:t>     Technology Stack</a:t>
            </a:r>
          </a:p>
        </p:txBody>
      </p:sp>
      <p:sp>
        <p:nvSpPr>
          <p:cNvPr id="3" name="Text Box 2"/>
          <p:cNvSpPr txBox="1"/>
          <p:nvPr/>
        </p:nvSpPr>
        <p:spPr>
          <a:xfrm>
            <a:off x="169545" y="913765"/>
            <a:ext cx="8832215" cy="5975350"/>
          </a:xfrm>
          <a:prstGeom prst="rect">
            <a:avLst/>
          </a:prstGeom>
          <a:noFill/>
        </p:spPr>
        <p:txBody>
          <a:bodyPr wrap="square" rtlCol="0">
            <a:noAutofit/>
          </a:bodyPr>
          <a:lstStyle/>
          <a:p>
            <a:pPr indent="0">
              <a:lnSpc>
                <a:spcPct val="110000"/>
              </a:lnSpc>
              <a:buNone/>
            </a:pPr>
            <a:endParaRPr lang="en-US" altLang="en-US"/>
          </a:p>
        </p:txBody>
      </p:sp>
      <p:sp>
        <p:nvSpPr>
          <p:cNvPr id="4" name="Text Box 3"/>
          <p:cNvSpPr txBox="1"/>
          <p:nvPr/>
        </p:nvSpPr>
        <p:spPr>
          <a:xfrm>
            <a:off x="169545" y="1167765"/>
            <a:ext cx="8832215" cy="5368290"/>
          </a:xfrm>
          <a:prstGeom prst="rect">
            <a:avLst/>
          </a:prstGeom>
        </p:spPr>
        <p:txBody>
          <a:bodyPr wrap="square">
            <a:noAutofit/>
          </a:bodyPr>
          <a:lstStyle/>
          <a:p>
            <a:endParaRPr sz="2000">
              <a:latin typeface="Times New Roman" panose="02020503050405090304" pitchFamily="18" charset="0"/>
              <a:cs typeface="Times New Roman" panose="02020503050405090304" pitchFamily="18" charset="0"/>
            </a:endParaRPr>
          </a:p>
        </p:txBody>
      </p:sp>
      <p:pic>
        <p:nvPicPr>
          <p:cNvPr id="7" name="Picture 6">
            <a:extLst>
              <a:ext uri="{FF2B5EF4-FFF2-40B4-BE49-F238E27FC236}">
                <a16:creationId xmlns:a16="http://schemas.microsoft.com/office/drawing/2014/main" id="{507F0A73-9296-C705-E4BC-55C989D4F9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234" y="1037891"/>
            <a:ext cx="7282482" cy="536829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25491" cy="831273"/>
          </a:xfrm>
        </p:spPr>
        <p:txBody>
          <a:bodyPr/>
          <a:lstStyle/>
          <a:p>
            <a:pPr algn="ctr"/>
            <a:r>
              <a:rPr lang="en-US" altLang="en-IN" sz="3200" b="1" dirty="0">
                <a:ea typeface="Calibri" panose="020F0502020204030204" pitchFamily="34" charset="0"/>
                <a:cs typeface="Times New Roman" panose="02020503050405090304" pitchFamily="18" charset="0"/>
              </a:rPr>
              <a:t>OUTCOMES</a:t>
            </a:r>
          </a:p>
        </p:txBody>
      </p:sp>
      <p:sp>
        <p:nvSpPr>
          <p:cNvPr id="4" name="Rectangle 1"/>
          <p:cNvSpPr>
            <a:spLocks noGrp="1" noChangeArrowheads="1"/>
          </p:cNvSpPr>
          <p:nvPr>
            <p:ph type="subTitle"/>
          </p:nvPr>
        </p:nvSpPr>
        <p:spPr bwMode="auto">
          <a:xfrm>
            <a:off x="207645" y="999490"/>
            <a:ext cx="8728710" cy="5622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r>
              <a:rPr lang="en-US" sz="2000" dirty="0"/>
              <a:t>• </a:t>
            </a:r>
            <a:r>
              <a:rPr lang="en-US" sz="2000" b="1" dirty="0"/>
              <a:t>High Classification Accuracy</a:t>
            </a:r>
            <a:r>
              <a:rPr lang="en-US" sz="2000" dirty="0"/>
              <a:t> — The proposed CNN model achieved an overall accuracy of </a:t>
            </a:r>
            <a:r>
              <a:rPr lang="en-US" sz="2000" b="1" dirty="0"/>
              <a:t>98.76%</a:t>
            </a:r>
            <a:r>
              <a:rPr lang="en-US" sz="2000" dirty="0"/>
              <a:t> in classifying blood cell images into four categories.</a:t>
            </a:r>
          </a:p>
          <a:p>
            <a:endParaRPr lang="en-US" sz="2000" dirty="0"/>
          </a:p>
          <a:p>
            <a:r>
              <a:rPr lang="en-US" sz="2000" dirty="0"/>
              <a:t>• </a:t>
            </a:r>
            <a:r>
              <a:rPr lang="en-US" sz="2000" b="1" dirty="0"/>
              <a:t>Accurate Blood Cell Classification</a:t>
            </a:r>
            <a:r>
              <a:rPr lang="en-US" sz="2000" dirty="0"/>
              <a:t> — The model effectively classified blood cells into Benign, Malignant Pre-B, Malignant Pro-B, and Malignant Early Pre-B classes with high precision and recall.</a:t>
            </a:r>
          </a:p>
          <a:p>
            <a:endParaRPr lang="en-US" sz="2000" dirty="0"/>
          </a:p>
          <a:p>
            <a:r>
              <a:rPr lang="en-US" sz="2000" dirty="0"/>
              <a:t>• </a:t>
            </a:r>
            <a:r>
              <a:rPr lang="en-US" sz="2000" b="1" dirty="0"/>
              <a:t>Strong CNN Performance</a:t>
            </a:r>
            <a:r>
              <a:rPr lang="en-US" sz="2000" dirty="0"/>
              <a:t> — Training and validation analysis showed stable learning with minimal overfitting and strong generalization capability.</a:t>
            </a:r>
          </a:p>
          <a:p>
            <a:endParaRPr lang="en-US" sz="2000" dirty="0"/>
          </a:p>
          <a:p>
            <a:r>
              <a:rPr lang="en-US" sz="2000" dirty="0"/>
              <a:t>• </a:t>
            </a:r>
            <a:r>
              <a:rPr lang="en-US" sz="2000" b="1" dirty="0"/>
              <a:t>Reliable Confusion Matrix Results</a:t>
            </a:r>
            <a:r>
              <a:rPr lang="en-US" sz="2000" dirty="0"/>
              <a:t> — The confusion matrix demonstrated very low misclassification among blood cell classes, especially for malignant categories.</a:t>
            </a:r>
          </a:p>
          <a:p>
            <a:endParaRPr lang="en-US" sz="2000" dirty="0"/>
          </a:p>
          <a:p>
            <a:r>
              <a:rPr lang="en-US" sz="2000" dirty="0"/>
              <a:t>• </a:t>
            </a:r>
            <a:r>
              <a:rPr lang="en-US" sz="2000" b="1" dirty="0"/>
              <a:t>Effective Feature Extraction</a:t>
            </a:r>
            <a:r>
              <a:rPr lang="en-US" sz="2000" dirty="0"/>
              <a:t> — The CNN architecture successfully extracted important morphological features from microscopic blood cell images.</a:t>
            </a:r>
          </a:p>
          <a:p>
            <a:endParaRPr lang="en-US" sz="2000" dirty="0"/>
          </a:p>
          <a:p>
            <a:r>
              <a:rPr lang="en-US" sz="2000" dirty="0"/>
              <a:t>• </a:t>
            </a:r>
            <a:r>
              <a:rPr lang="en-US" sz="2000" b="1" dirty="0"/>
              <a:t>Efficient Diagnostic Support</a:t>
            </a:r>
            <a:r>
              <a:rPr lang="en-US" sz="2000" dirty="0"/>
              <a:t> — The framework provides a fast, automated, and reliable approach for hematological disease diagnosis and clinical decision support.</a:t>
            </a:r>
          </a:p>
          <a:p>
            <a:pPr eaLnBrk="0" fontAlgn="base" hangingPunct="0">
              <a:lnSpc>
                <a:spcPct val="100000"/>
              </a:lnSpc>
              <a:spcAft>
                <a:spcPct val="0"/>
              </a:spcAft>
            </a:pPr>
            <a:endPar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1000"/>
                                        <p:tgtEl>
                                          <p:spTgt spid="4">
                                            <p:txEl>
                                              <p:pRg st="2" end="2"/>
                                            </p:txEl>
                                          </p:spTgt>
                                        </p:tgtEl>
                                      </p:cBhvr>
                                    </p:animEffect>
                                    <p:anim calcmode="lin" valueType="num">
                                      <p:cBhvr>
                                        <p:cTn id="14"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nodeType="after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1000"/>
                                        <p:tgtEl>
                                          <p:spTgt spid="4">
                                            <p:txEl>
                                              <p:pRg st="4" end="4"/>
                                            </p:txEl>
                                          </p:spTgt>
                                        </p:tgtEl>
                                      </p:cBhvr>
                                    </p:animEffect>
                                    <p:anim calcmode="lin" valueType="num">
                                      <p:cBhvr>
                                        <p:cTn id="2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7" presetClass="entr" presetSubtype="0" fill="hold" nodeType="after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Effect transition="in" filter="fade">
                                      <p:cBhvr>
                                        <p:cTn id="25" dur="1000"/>
                                        <p:tgtEl>
                                          <p:spTgt spid="4">
                                            <p:txEl>
                                              <p:pRg st="6" end="6"/>
                                            </p:txEl>
                                          </p:spTgt>
                                        </p:tgtEl>
                                      </p:cBhvr>
                                    </p:animEffect>
                                    <p:anim calcmode="lin" valueType="num">
                                      <p:cBhvr>
                                        <p:cTn id="2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7" presetClass="entr" presetSubtype="0" fill="hold" nodeType="after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animEffect transition="in" filter="fade">
                                      <p:cBhvr>
                                        <p:cTn id="31" dur="1000"/>
                                        <p:tgtEl>
                                          <p:spTgt spid="4">
                                            <p:txEl>
                                              <p:pRg st="8" end="8"/>
                                            </p:txEl>
                                          </p:spTgt>
                                        </p:tgtEl>
                                      </p:cBhvr>
                                    </p:animEffect>
                                    <p:anim calcmode="lin" valueType="num">
                                      <p:cBhvr>
                                        <p:cTn id="3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7" presetClass="entr" presetSubtype="0" fill="hold" nodeType="after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animEffect transition="in" filter="fade">
                                      <p:cBhvr>
                                        <p:cTn id="37" dur="1000"/>
                                        <p:tgtEl>
                                          <p:spTgt spid="4">
                                            <p:txEl>
                                              <p:pRg st="10" end="10"/>
                                            </p:txEl>
                                          </p:spTgt>
                                        </p:tgtEl>
                                      </p:cBhvr>
                                    </p:animEffect>
                                    <p:anim calcmode="lin" valueType="num">
                                      <p:cBhvr>
                                        <p:cTn id="38"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00" y="0"/>
            <a:ext cx="5486040" cy="914040"/>
          </a:xfrm>
        </p:spPr>
        <p:txBody>
          <a:bodyPr/>
          <a:lstStyle/>
          <a:p>
            <a:r>
              <a:rPr lang="en-US" b="1" dirty="0">
                <a:cs typeface="Times New Roman" panose="02020503050405090304" pitchFamily="18" charset="0"/>
              </a:rPr>
              <a:t>          </a:t>
            </a:r>
            <a:r>
              <a:rPr lang="en-US" sz="3200" b="1" dirty="0">
                <a:cs typeface="Times New Roman" panose="02020503050405090304" pitchFamily="18" charset="0"/>
              </a:rPr>
              <a:t>FUTURE SCOPE</a:t>
            </a:r>
          </a:p>
        </p:txBody>
      </p:sp>
      <p:sp>
        <p:nvSpPr>
          <p:cNvPr id="5" name="Rectangle 2">
            <a:extLst>
              <a:ext uri="{FF2B5EF4-FFF2-40B4-BE49-F238E27FC236}">
                <a16:creationId xmlns:a16="http://schemas.microsoft.com/office/drawing/2014/main" id="{A7DDBAD8-9117-F1E5-BA84-B2FD5710201E}"/>
              </a:ext>
            </a:extLst>
          </p:cNvPr>
          <p:cNvSpPr>
            <a:spLocks noGrp="1" noChangeArrowheads="1"/>
          </p:cNvSpPr>
          <p:nvPr>
            <p:ph type="subTitle"/>
          </p:nvPr>
        </p:nvSpPr>
        <p:spPr bwMode="auto">
          <a:xfrm>
            <a:off x="127000" y="729205"/>
            <a:ext cx="8618493" cy="610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Larger Clinical Datasets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 larger and more diverse blood cell image datasets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from hospitals and medical laboratories to improve model performance and reliability.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Deep Learning Models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Integrate transfer learning and advanced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architectures such as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EfficientNet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Vision Transformers for improved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classification accuracy.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Image Preprocessing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Apply advanced image enhancement and data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augmentation techniques to improve robustness against noise and image variations.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Explainable AI Integration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Incorporate Explainable AI (XAI) methods to highlight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important regions in blood cell images for better clinical interpretability.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Clinical Deployment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Develop a real-time web or medical diagnostic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 for automated blood cell analysis in hospitals and laboratories.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Multi-Disease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Extend the framework to detect additional hematological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diseases such as anemia, lymphoma, and malaria.</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Automation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Build a fully automated clinical decision support system to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assist healthcare professionals in faster and more reliable diagnosis.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04709" cy="852055"/>
          </a:xfrm>
        </p:spPr>
        <p:txBody>
          <a:bodyPr/>
          <a:lstStyle/>
          <a:p>
            <a:pPr algn="ctr"/>
            <a:r>
              <a:rPr lang="en-US" altLang="en-IN" sz="3200" b="1" dirty="0">
                <a:ea typeface="Calibri" panose="020F0502020204030204" pitchFamily="34" charset="0"/>
                <a:cs typeface="Times New Roman" panose="02020503050405090304" pitchFamily="18" charset="0"/>
              </a:rPr>
              <a:t>CONCLUSION </a:t>
            </a:r>
            <a:endParaRPr lang="en-IN" sz="3200" b="1" dirty="0">
              <a:ea typeface="Calibri" panose="020F0502020204030204" pitchFamily="34" charset="0"/>
              <a:cs typeface="Times New Roman" panose="02020503050405090304" pitchFamily="18" charset="0"/>
            </a:endParaRPr>
          </a:p>
        </p:txBody>
      </p:sp>
      <p:sp>
        <p:nvSpPr>
          <p:cNvPr id="4" name="Text Box 3"/>
          <p:cNvSpPr txBox="1"/>
          <p:nvPr/>
        </p:nvSpPr>
        <p:spPr>
          <a:xfrm>
            <a:off x="141605" y="1171575"/>
            <a:ext cx="8888730" cy="5043170"/>
          </a:xfrm>
          <a:prstGeom prst="rect">
            <a:avLst/>
          </a:prstGeom>
          <a:noFill/>
        </p:spPr>
        <p:txBody>
          <a:bodyPr wrap="square" rtlCol="0">
            <a:noAutofit/>
          </a:bodyPr>
          <a:lstStyle/>
          <a:p>
            <a:r>
              <a:rPr lang="en-US" sz="2000" dirty="0"/>
              <a:t>This project successfully developed an efficient CNN-based framework for automated blood cell classification in hematological disease diagnosis using deep learning techniques. The proposed model accurately classified blood cell images into four categories: Benign, Malignant Pre-B, Malignant Pro-B, and Malignant Early Pre-B.</a:t>
            </a:r>
          </a:p>
          <a:p>
            <a:r>
              <a:rPr lang="en-US" sz="2000" dirty="0"/>
              <a:t>The CNN model achieved an overall classification accuracy of 98.76% along with high precision, recall, and F1-score values across all classes. Training and validation analysis demonstrated stable learning and strong generalization capability, while confusion matrix evaluation confirmed minimal misclassification among blood cell categories.</a:t>
            </a:r>
          </a:p>
          <a:p>
            <a:r>
              <a:rPr lang="en-US" sz="2000" dirty="0"/>
              <a:t>The proposed framework provides a fast, accurate, and reliable alternative to manual microscopic analysis and can effectively support clinicians in automated hematological disease diagnosis. Overall, the study demonstrates the significant potential of CNN-based systems in improving the efficiency and accuracy of medical image classification.</a:t>
            </a:r>
          </a:p>
          <a:p>
            <a:endParaRPr lang="en-US" altLang="en-US" sz="2000" dirty="0">
              <a:latin typeface="Times New Roman" panose="02020503050405090304" pitchFamily="18" charset="0"/>
              <a:cs typeface="Times New Roman" panose="0202050305040509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012723" y="2723606"/>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503050405090304" pitchFamily="18" charset="0"/>
                <a:cs typeface="Times New Roman" panose="02020503050405090304" pitchFamily="18" charset="0"/>
              </a:rPr>
              <a:t>Thank You</a:t>
            </a:r>
            <a:endParaRPr lang="en-US" sz="5400" b="0" strike="noStrike" spc="-1" dirty="0">
              <a:solidFill>
                <a:srgbClr val="000000"/>
              </a:solidFill>
              <a:latin typeface="Times New Roman" panose="02020503050405090304" pitchFamily="18" charset="0"/>
              <a:cs typeface="Times New Roman" panose="0202050305040509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Times New Roman" panose="02020503050405090304" pitchFamily="18" charset="0"/>
                <a:ea typeface="MS PGothic"/>
              </a:rPr>
              <a:t>11</a:t>
            </a:fld>
            <a:endParaRPr lang="en-GB" sz="1200" b="0" strike="noStrike" spc="-1" dirty="0">
              <a:latin typeface="Times New Roman" panose="02020503050405090304"/>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c="http://schemas.microsoft.com/office/infopath/2007/PartnerControl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ma:contentTypeDescription="Create a new document." ma:contentTypeID="0x010100096F1BF43DDE004485E7A868D137D60A" ma:contentTypeVersion="0" ma:contentTypeName="Document" ct:_="" ma:_="" ma:contentTypeScope="" ma:versionID="47fff7f98a9c49c088ba096c14cf4458">
  <xsd:schema xmlns:xsd="http://www.w3.org/2001/XMLSchema" xmlns:p="http://schemas.microsoft.com/office/2006/metadata/properties" xmlns:xs="http://www.w3.org/2001/XMLSchema" ma:fieldsID="c05e9f2c4932a6a674126b9dde7716ea" ma:root="true" targetNamespace="http://schemas.microsoft.com/office/2006/metadata/properties">
    <xsd:element name="properties">
      <xsd:complexType>
        <xsd:sequence>
          <xsd:element name="documentManagement">
            <xsd:complexType>
              <xsd:all/>
            </xsd:complexType>
          </xsd:element>
        </xsd:sequence>
      </xsd:complexType>
    </xsd:element>
  </xsd:schema>
  <xsd:schema xmlns="http://schemas.openxmlformats.org/package/2006/metadata/core-properties" xmlns:dc="http://purl.org/dc/elements/1.1/" xmlns:xsd="http://www.w3.org/2001/XMLSchema" xmlns:dcterms="http://purl.org/dc/terms/" xmlns:odoc="http://schemas.microsoft.com/internal/obd" xmlns:xsi="http://www.w3.org/2001/XMLSchema-instance" blockDefault="#all" attributeFormDefault="unqualified" elementFormDefault="qualified" targetNamespace="http://schemas.openxmlformats.org/package/2006/metadata/core-properties">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inOccurs="0"/>
        <xsd:element ref="dcterms:created" maxOccurs="1" minOccurs="0"/>
        <xsd:element ref="dc:identifier" maxOccurs="1" minOccurs="0"/>
        <xsd:element ma:index="0" name="contentType" maxOccurs="1" minOccurs="0" ma:displayName="Content Type" type="xsd:string"/>
        <xsd:element ma:index="4" ref="dc:title" maxOccurs="1" minOccurs="0" ma:displayName="Title"/>
        <xsd:element ref="dc:subject" maxOccurs="1" minOccurs="0"/>
        <xsd:element ref="dc:description" maxOccurs="1" minOccurs="0"/>
        <xsd:element name="keywords" maxOccurs="1" minOccurs="0" type="xsd:string"/>
        <xsd:element ref="dc:language" maxOccurs="1" minOccurs="0"/>
        <xsd:element name="category" maxOccurs="1" minOccurs="0" type="xsd:string"/>
        <xsd:element name="version" maxOccurs="1" minOccurs="0" type="xsd:string"/>
        <xsd:element name="revision" maxOccurs="1" minOccurs="0" type="xsd:string">
          <xsd:annotation>
            <xsd:documentation>
                        This value indicates the number of saves or revisions. The application is responsible for updating this value after each revision.
                    </xsd:documentation>
          </xsd:annotation>
        </xsd:element>
        <xsd:element name="lastModifiedBy" maxOccurs="1" minOccurs="0" type="xsd:string"/>
        <xsd:element ref="dcterms:modified" maxOccurs="1" minOccurs="0"/>
        <xsd:element name="contentStatus" maxOccurs="1" minOccurs="0" type="xsd:string"/>
      </xsd:all>
    </xsd:complexType>
  </xsd:schema>
  <xs:schema xmlns:pc="http://schemas.microsoft.com/office/infopath/2007/PartnerControls" xmlns:xs="http://www.w3.org/2001/XMLSchema" attributeFormDefault="unqualified" elementFormDefault="qualified" targetNamespace="http://schemas.microsoft.com/office/infopath/2007/PartnerControls">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axOccurs="unbounded" minOccurs="0"/>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axOccurs="unbounded" minOccurs="0"/>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2A602-78C1-468C-BB25-57CD481DB741}">
  <ds:schemaRefs/>
</ds:datastoreItem>
</file>

<file path=customXml/itemProps2.xml><?xml version="1.0" encoding="utf-8"?>
<ds:datastoreItem xmlns:ds="http://schemas.openxmlformats.org/officeDocument/2006/customXml" ds:itemID="{491DF113-39A2-46D5-BFDA-E63300A9ECAB}">
  <ds:schemaRefs/>
</ds:datastoreItem>
</file>

<file path=customXml/itemProps3.xml><?xml version="1.0" encoding="utf-8"?>
<ds:datastoreItem xmlns:ds="http://schemas.openxmlformats.org/officeDocument/2006/customXml" ds:itemID="{737ED6F0-5E4C-4CD0-9B68-9C53F925A6F7}">
  <ds:schemaRefs/>
</ds:datastoreItem>
</file>

<file path=docProps/app.xml><?xml version="1.0" encoding="utf-8"?>
<Properties xmlns="http://schemas.openxmlformats.org/officeDocument/2006/extended-properties" xmlns:vt="http://schemas.openxmlformats.org/officeDocument/2006/docPropsVTypes">
  <TotalTime>646</TotalTime>
  <Words>1299</Words>
  <Application>Microsoft Office PowerPoint</Application>
  <PresentationFormat>On-screen Show (4:3)</PresentationFormat>
  <Paragraphs>83</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OBJECTIVE</vt:lpstr>
      <vt:lpstr>PROBLEM STATEMENT</vt:lpstr>
      <vt:lpstr>METHODOLOGY</vt:lpstr>
      <vt:lpstr>     FEATURES </vt:lpstr>
      <vt:lpstr>     Technology Stack</vt:lpstr>
      <vt:lpstr>OUTCOMES</vt:lpstr>
      <vt:lpstr>          FUTURE SCOPE</vt:lpstr>
      <vt:lpstr>CONCLUSION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Rajwinder Kaur</cp:lastModifiedBy>
  <cp:revision>2316</cp:revision>
  <dcterms:created xsi:type="dcterms:W3CDTF">2026-04-26T13:14:51Z</dcterms:created>
  <dcterms:modified xsi:type="dcterms:W3CDTF">2026-05-08T17:05:26Z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ICV">
    <vt:lpwstr>C121D77F4A44FE7ECB0FEE6925ED7FD4_43</vt:lpwstr>
  </property>
  <property fmtid="{D5CDD505-2E9C-101B-9397-08002B2CF9AE}" pid="15" name="KSOProductBuildVer">
    <vt:lpwstr>1033-12.1.23155.23155</vt:lpwstr>
  </property>
</Properties>
</file>